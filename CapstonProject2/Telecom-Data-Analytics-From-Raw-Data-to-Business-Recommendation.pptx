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Kanit Light" panose="020B0604020202020204" charset="-34"/>
      <p:regular r:id="rId17"/>
    </p:embeddedFont>
    <p:embeddedFont>
      <p:font typeface="Martel Sans" panose="020B0604020202020204" charset="0"/>
      <p:regular r:id="rId18"/>
    </p:embeddedFont>
    <p:embeddedFont>
      <p:font typeface="Martel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3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8905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Telecom Data Analytics: From Raw Data to Business Recommendation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4446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End-to-End AI/ML, Data Engineering, Monitoring and Decision System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61929"/>
            <a:ext cx="3823001" cy="287139"/>
          </a:xfrm>
          <a:prstGeom prst="roundRect">
            <a:avLst>
              <a:gd name="adj" fmla="val 22118"/>
            </a:avLst>
          </a:prstGeom>
          <a:solidFill>
            <a:srgbClr val="CDE3FE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218583"/>
            <a:ext cx="42057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ADVANCED AI &amp; ML — FINAL CAPSTONE PROJECT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3360" y="466169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Team Name · Aditya Kumar, Kashish Yadav, Pankaj </a:t>
            </a:r>
            <a:r>
              <a:rPr lang="en-IN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Sagar, Vivek Kumar, Manya Verma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64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Executive Summary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93019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project converts messy telecom operational data into reliable insights and actionable business decisions — combining data engineering, ML, forecasting, NLP, and costed recommendations.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864420"/>
            <a:ext cx="8694917" cy="37558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23212" y="4234843"/>
            <a:ext cx="1291044" cy="470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Profiling &amp; Cleaning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823212" y="4772018"/>
            <a:ext cx="1291044" cy="5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Assess quality and sanitize records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138280" y="4234843"/>
            <a:ext cx="1291045" cy="470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AI/ML &amp; Analytics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38280" y="4772018"/>
            <a:ext cx="1291045" cy="5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Models, forecasting, and NLP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169793" y="2203322"/>
            <a:ext cx="1291044" cy="23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Ingest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169793" y="2505352"/>
            <a:ext cx="1291044" cy="3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Raw telecom operational data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742452" y="2203322"/>
            <a:ext cx="1291044" cy="470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Insights to Action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742452" y="2740497"/>
            <a:ext cx="1291044" cy="677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Dashboards, alerts, costed recommendations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01321" y="2203322"/>
            <a:ext cx="1291044" cy="470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Governed Dataset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501321" y="2740497"/>
            <a:ext cx="1291044" cy="5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Validated, cataloged, and lineage-traced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5756275"/>
            <a:ext cx="10868745" cy="523081"/>
          </a:xfrm>
          <a:prstGeom prst="roundRect">
            <a:avLst>
              <a:gd name="adj" fmla="val 12142"/>
            </a:avLst>
          </a:prstGeom>
          <a:solidFill>
            <a:srgbClr val="CDE3FE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" y="5928717"/>
            <a:ext cx="189007" cy="15120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52893" y="5915025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Core message:</a:t>
            </a:r>
            <a:r>
              <a:rPr lang="en-US" sz="11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This is not only an ML model — it is an end-to-end telecom analytics decision system.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6605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Problem Are We Solving?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319907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telecom operator generates massive volumes of subscriber, usage, network, and customer-care data — but raw data contains duplicates, missing values, and operational noise that prevent reliable decisions.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3360" y="2108994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CDE3FE"/>
          </a:solidFill>
          <a:ln w="6350">
            <a:solidFill>
              <a:srgbClr val="B3C9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0916" y="2266553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Subscriber Risk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90916" y="2575322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Who will churn? Who is worth retaining?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33360" y="3071515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CDE3FE"/>
          </a:solidFill>
          <a:ln w="6350">
            <a:solidFill>
              <a:srgbClr val="B3C9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0916" y="3229074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Network Quality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390916" y="3537843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Which cells are degrading? Which degradation affects revenue?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3360" y="4034036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CDE3FE"/>
          </a:solidFill>
          <a:ln w="6350">
            <a:solidFill>
              <a:srgbClr val="B3C9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0916" y="4191595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Care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390916" y="4500364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Which messages are negative? Which tickets route automatically?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33360" y="4996557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CDE3FE"/>
          </a:solidFill>
          <a:ln w="6350">
            <a:solidFill>
              <a:srgbClr val="B3C9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0916" y="5154116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Value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390916" y="5462885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Where should investment go? Which action creates the greatest value?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233360" y="5974159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Objective:</a:t>
            </a:r>
            <a:r>
              <a:rPr lang="en-US" sz="11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Move from data → insight → action → measurable value.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317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Telecom Data Used in the Capstone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528266"/>
            <a:ext cx="10868745" cy="3607991"/>
          </a:xfrm>
          <a:prstGeom prst="roundRect">
            <a:avLst>
              <a:gd name="adj" fmla="val 187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1951930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610148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030637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451126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871615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292104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712593"/>
            <a:ext cx="10868745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8555" y="1622822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Dataset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85329" y="1622822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Content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27727" y="1622822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Track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8555" y="2043311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capstone_subscribers.csv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85329" y="2043311"/>
            <a:ext cx="4021136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Subscriber profile, 6-month behavior, churn outcome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27727" y="2043311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A, C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555" y="2701528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capstone_usage_monthly.csv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85329" y="2701528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Usage and revenue per subscriber per month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27727" y="2701528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555" y="3122017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capstone_network_kpi.csv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85329" y="3122017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15-min cell readings, 18 cells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27727" y="3122017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8555" y="3542506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capstone_maintenance_windows.csv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085329" y="3542506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Planned outages and change tickets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27727" y="3542506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8555" y="3962995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capstone_cell_traffic_monthly.csv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085329" y="3962995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30 months of cell traffic and capacity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27727" y="3962995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8555" y="4383484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capstone_messages.csv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085329" y="4383484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messages with true sentiment labels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27727" y="4383484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8555" y="4803973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capstone_tickets.csv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085329" y="4803973"/>
            <a:ext cx="46307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Support tickets with handling team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27727" y="4803973"/>
            <a:ext cx="3545096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61475" y="5289848"/>
            <a:ext cx="10868745" cy="814983"/>
          </a:xfrm>
          <a:prstGeom prst="roundRect">
            <a:avLst>
              <a:gd name="adj" fmla="val 8280"/>
            </a:avLst>
          </a:prstGeom>
          <a:solidFill>
            <a:srgbClr val="B6D6FC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484614"/>
            <a:ext cx="200814" cy="160635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83551" y="5466457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Data Grain:</a:t>
            </a:r>
            <a:r>
              <a:rPr lang="en-US" sz="12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Subscriber (per subscriber) · Usage (per subscriber/month) · Network KPI (per cell/15 min) · Traffic (per cell/month) · Message (per message) · Ticket (per ticket)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34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Data Governance Comes Before Modelling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65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Raw Data Quality Problems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0873"/>
            <a:ext cx="5203794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Subscribers:</a:t>
            </a: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Duplicates, missing usage/recharge, inconsistent region spellings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Usage:</a:t>
            </a: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Duplicate records, missing revenue, zero revenue despite real usage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Network:</a:t>
            </a: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Duplicate readings, blank latency, negative throughput, maintenance outages, collector losses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Messages:</a:t>
            </a: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Messages without matching subscriber records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187575"/>
            <a:ext cx="5476043" cy="3356967"/>
          </a:xfrm>
          <a:prstGeom prst="roundRect">
            <a:avLst>
              <a:gd name="adj" fmla="val 4054"/>
            </a:avLst>
          </a:prstGeom>
          <a:solidFill>
            <a:srgbClr val="034697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237658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Guiding Principle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2860873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 not blindly delete bad data. </a:t>
            </a: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Understand what the value means before repairing it.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78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From Raw Data to a Governed Dataset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23" y="1476077"/>
            <a:ext cx="9994551" cy="37504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73992" y="4170885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Classify Missing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274179" y="4170885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Standardize Categories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84689" y="4170885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Detect Duplicates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495200" y="4316085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Identify Grain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64411" y="4316085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Raw CSV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1475" y="5418435"/>
            <a:ext cx="10868745" cy="8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governance rules: duplicates removed at correct grain; missing values classified before imputation; imputed values receive </a:t>
            </a:r>
            <a:r>
              <a:rPr lang="en-US" sz="1400" dirty="0">
                <a:solidFill>
                  <a:srgbClr val="034697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_was_missing</a:t>
            </a:r>
            <a:r>
              <a:rPr lang="en-US" sz="14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flags; negative throughput treated as counter rollover; planned maintenance NULL latency preserved; pipeline is </a:t>
            </a:r>
            <a:r>
              <a:rPr lang="en-US" sz="140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idempotent</a:t>
            </a:r>
            <a:r>
              <a:rPr lang="en-US" sz="14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(running twice produces identical row counts).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76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Preventing Data Leakage: The Day-Before Test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29060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For every predictive feature, ask: </a:t>
            </a:r>
            <a:r>
              <a:rPr lang="en-US" sz="1400" i="1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"Would this value have existed </a:t>
            </a:r>
            <a:r>
              <a:rPr lang="en-US" sz="1400" b="1" i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the day before</a:t>
            </a:r>
            <a:r>
              <a:rPr lang="en-US" sz="1400" i="1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the event I am trying to predict?"</a:t>
            </a:r>
            <a:r>
              <a:rPr lang="en-US" sz="14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If no — it is leakage.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73027"/>
            <a:ext cx="4954464" cy="35663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1267" y="2451695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Problematic Features Removed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21267" y="2902744"/>
            <a:ext cx="5215303" cy="1180009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retention_offer_sent</a:t>
            </a:r>
            <a:r>
              <a:rPr lang="en-US" sz="14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consequence of an existing churn-risk decision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total_charges</a:t>
            </a:r>
            <a:r>
              <a:rPr lang="en-US" sz="14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effectively ARPU × tenure; can directly reveal the target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1267" y="4274641"/>
            <a:ext cx="5215303" cy="956866"/>
          </a:xfrm>
          <a:prstGeom prst="roundRect">
            <a:avLst>
              <a:gd name="adj" fmla="val 7882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749" y="4517132"/>
            <a:ext cx="22442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4659" y="4472980"/>
            <a:ext cx="445242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high model score is not useful if the model learns information unavailable at prediction time.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84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Three Business Problems, Three Analytical Tracks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04516"/>
            <a:ext cx="1524756" cy="942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18313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Track A — Churn &amp; Retention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91818"/>
            <a:ext cx="3465426" cy="1927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Question:</a:t>
            </a: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Which subscribers will leave, and what should we spend to retain them?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Behavioral feature engineering, churn classification, segmentation, expected loss, anomaly detection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004516"/>
            <a:ext cx="1524756" cy="942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18313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Track B — Network &amp; Revenue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591818"/>
            <a:ext cx="3465426" cy="1927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Question:</a:t>
            </a: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Which cells are degrading, what revenue is exposed, and where should capacity go?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KPI cleaning, alert engineering, forecasting, revenue exposure, capacity planning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004516"/>
            <a:ext cx="1524756" cy="9423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18313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Track C — Customer Care Copilot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591818"/>
            <a:ext cx="3465426" cy="223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Question:</a:t>
            </a: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Which messages matter, who should handle them, and what is the value of prioritizing?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Sentiment analysis, ticket routing, confidence thresholds, human escalation, customer-value prioritization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08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Track A — Churn Prediction &amp; Segmentation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83531"/>
            <a:ext cx="4704141" cy="3386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1564382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Segment 0 — Priority Retention Target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1983184"/>
            <a:ext cx="5226911" cy="882848"/>
          </a:xfrm>
          <a:prstGeom prst="rect">
            <a:avLst/>
          </a:prstGeom>
          <a:noFill/>
          <a:ln/>
        </p:spPr>
        <p:txBody>
          <a:bodyPr wrap="square" lIns="0" tIns="68047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392 subscribers · 12.2% of base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40% churn rate vs. 24.1% overall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Driven by complaints, not high spend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659" y="3003748"/>
            <a:ext cx="522691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Expected Loss = Churn Risk × ARPU × 12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Prioritize by </a:t>
            </a:r>
            <a:r>
              <a:rPr lang="en-US" sz="1300" b="1" dirty="0">
                <a:solidFill>
                  <a:srgbClr val="03469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risk + value</a:t>
            </a:r>
            <a:r>
              <a:rPr lang="en-US" sz="130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not accuracy alone.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5314950"/>
            <a:ext cx="10868745" cy="892870"/>
          </a:xfrm>
          <a:prstGeom prst="roundRect">
            <a:avLst>
              <a:gd name="adj" fmla="val 8002"/>
            </a:avLst>
          </a:prstGeom>
          <a:solidFill>
            <a:srgbClr val="CDE3F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533132"/>
            <a:ext cx="212620" cy="1700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4209" y="5510510"/>
            <a:ext cx="101459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Fraud &amp; Leakage Detection:</a:t>
            </a:r>
            <a:r>
              <a:rPr lang="en-US" sz="13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Isolation Forest identifies bypass fraud, subscription fraud, and billing faults. Anomaly flags require investigation — they are not automatic conclusions.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9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Track B — Network Quality &amp; Revenue Optimization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61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Alert Engineering Funnel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84003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6761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Network Data Quality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160389"/>
            <a:ext cx="5203794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8,681 raw rows → 8,640 after de-duplication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97 blank latency: 20 planned, 7 outage, 63 collector loss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9 negative throughput (counter rollover), 27 downtime rows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39936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4697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Cells Above 85% Utilization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32776" y="447794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34697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CELL-HYD-03 · CELL-KOL-03 · CELL-MUM-01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32776" y="4992985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CDE3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5254327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7024" y="5210274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Prioritize by customer/revenue exposure, not only by milliseconds.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901</Words>
  <Application>Microsoft Office PowerPoint</Application>
  <PresentationFormat>Widescreen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Consolas</vt:lpstr>
      <vt:lpstr>Kanit Light</vt:lpstr>
      <vt:lpstr>Martel Sans</vt:lpstr>
      <vt:lpstr>Martel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Kumar</cp:lastModifiedBy>
  <cp:revision>2</cp:revision>
  <dcterms:created xsi:type="dcterms:W3CDTF">2026-08-14T02:14:13Z</dcterms:created>
  <dcterms:modified xsi:type="dcterms:W3CDTF">2026-08-14T04:16:09Z</dcterms:modified>
</cp:coreProperties>
</file>