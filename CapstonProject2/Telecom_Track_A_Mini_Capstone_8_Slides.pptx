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224" y="3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 dpi="0" rotWithShape="1">
            <a:blip r:embed="rId2">
              <a:alphaModFix amt="53000"/>
            </a:blip>
            <a:srcRect/>
            <a:stretch>
              <a:fillRect/>
            </a:stretch>
          </a:blipFill>
          <a:ln>
            <a:noFill/>
          </a:ln>
          <a:effectLst>
            <a:outerShdw blurRad="1270000" dist="23000" dir="5400000" rotWithShape="0">
              <a:srgbClr val="000000">
                <a:alpha val="35000"/>
              </a:srgbClr>
            </a:outerShdw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3581247" y="394305"/>
            <a:ext cx="5029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TELECOM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977951"/>
            <a:ext cx="804672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 dirty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Churn Prediction</a:t>
            </a:r>
            <a:r>
              <a:rPr lang="en-IN" sz="4800" b="1" dirty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
</a:t>
            </a:r>
            <a:r>
              <a:rPr sz="4800" b="1" dirty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&amp; Retention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2561870"/>
            <a:ext cx="5943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latin typeface="Aptos"/>
              </a:rPr>
              <a:t>Track A Mini Capstone Project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48C1683-5946-FA14-E411-EABC138545C0}"/>
              </a:ext>
            </a:extLst>
          </p:cNvPr>
          <p:cNvGrpSpPr/>
          <p:nvPr/>
        </p:nvGrpSpPr>
        <p:grpSpPr>
          <a:xfrm>
            <a:off x="1691640" y="4153328"/>
            <a:ext cx="2606040" cy="1325880"/>
            <a:chOff x="2039510" y="3436951"/>
            <a:chExt cx="2606040" cy="1325880"/>
          </a:xfrm>
        </p:grpSpPr>
        <p:sp>
          <p:nvSpPr>
            <p:cNvPr id="6" name="Rounded Rectangle 5"/>
            <p:cNvSpPr/>
            <p:nvPr/>
          </p:nvSpPr>
          <p:spPr>
            <a:xfrm>
              <a:off x="2039510" y="3436951"/>
              <a:ext cx="2606040" cy="13258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E1E6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039510" y="3436951"/>
              <a:ext cx="73152" cy="1325880"/>
            </a:xfrm>
            <a:prstGeom prst="rect">
              <a:avLst/>
            </a:prstGeom>
            <a:solidFill>
              <a:srgbClr val="EF8B2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40678" y="3601543"/>
              <a:ext cx="22219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 dirty="0">
                  <a:solidFill>
                    <a:srgbClr val="112340"/>
                  </a:solidFill>
                  <a:latin typeface="Aptos"/>
                </a:rPr>
                <a:t>Subscribers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40678" y="4003879"/>
              <a:ext cx="2221992" cy="58477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3200" b="0" dirty="0">
                  <a:solidFill>
                    <a:srgbClr val="1F2937"/>
                  </a:solidFill>
                  <a:latin typeface="Aptos"/>
                </a:rPr>
                <a:t>3,200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2B02DEC-2046-6FF3-C84E-EAAC87AA5F26}"/>
              </a:ext>
            </a:extLst>
          </p:cNvPr>
          <p:cNvGrpSpPr/>
          <p:nvPr/>
        </p:nvGrpSpPr>
        <p:grpSpPr>
          <a:xfrm>
            <a:off x="5237983" y="4171978"/>
            <a:ext cx="2606040" cy="1325880"/>
            <a:chOff x="5011309" y="3436951"/>
            <a:chExt cx="2606040" cy="1325880"/>
          </a:xfrm>
        </p:grpSpPr>
        <p:sp>
          <p:nvSpPr>
            <p:cNvPr id="10" name="Rounded Rectangle 9"/>
            <p:cNvSpPr/>
            <p:nvPr/>
          </p:nvSpPr>
          <p:spPr>
            <a:xfrm>
              <a:off x="5011309" y="3436951"/>
              <a:ext cx="2606040" cy="13258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E1E6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011309" y="3436951"/>
              <a:ext cx="73152" cy="1325880"/>
            </a:xfrm>
            <a:prstGeom prst="rect">
              <a:avLst/>
            </a:prstGeom>
            <a:solidFill>
              <a:srgbClr val="EF8B2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212477" y="3601543"/>
              <a:ext cx="22219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112340"/>
                  </a:solidFill>
                  <a:latin typeface="Aptos"/>
                </a:rPr>
                <a:t>Book churn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212477" y="4003879"/>
              <a:ext cx="2221992" cy="58477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3200" b="0">
                  <a:solidFill>
                    <a:srgbClr val="1F2937"/>
                  </a:solidFill>
                  <a:latin typeface="Aptos"/>
                </a:rPr>
                <a:t>24.1%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C706487-AFAF-C8EB-2DEA-82509D74CBCA}"/>
              </a:ext>
            </a:extLst>
          </p:cNvPr>
          <p:cNvGrpSpPr/>
          <p:nvPr/>
        </p:nvGrpSpPr>
        <p:grpSpPr>
          <a:xfrm>
            <a:off x="8784326" y="4153328"/>
            <a:ext cx="2627198" cy="1325880"/>
            <a:chOff x="8840327" y="3940097"/>
            <a:chExt cx="2606040" cy="1325880"/>
          </a:xfrm>
        </p:grpSpPr>
        <p:sp>
          <p:nvSpPr>
            <p:cNvPr id="14" name="Rounded Rectangle 13"/>
            <p:cNvSpPr/>
            <p:nvPr/>
          </p:nvSpPr>
          <p:spPr>
            <a:xfrm>
              <a:off x="8840327" y="3940097"/>
              <a:ext cx="2606040" cy="13258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E1E6E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840327" y="3940097"/>
              <a:ext cx="73152" cy="1325880"/>
            </a:xfrm>
            <a:prstGeom prst="rect">
              <a:avLst/>
            </a:prstGeom>
            <a:solidFill>
              <a:srgbClr val="EF8B2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041494" y="4104689"/>
              <a:ext cx="2221992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>
                  <a:solidFill>
                    <a:srgbClr val="112340"/>
                  </a:solidFill>
                  <a:latin typeface="Aptos"/>
                </a:rPr>
                <a:t>Target segment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041494" y="4507025"/>
              <a:ext cx="2221992" cy="58477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3200" b="0" dirty="0">
                  <a:solidFill>
                    <a:srgbClr val="1F2937"/>
                  </a:solidFill>
                  <a:latin typeface="Aptos"/>
                </a:rPr>
                <a:t>12.2%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1440" y="6488103"/>
            <a:ext cx="10789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dirty="0">
                <a:latin typeface="Aptos"/>
              </a:rPr>
              <a:t>Team:</a:t>
            </a:r>
            <a:r>
              <a:rPr lang="en-IN" sz="1400" b="1" dirty="0">
                <a:latin typeface="Aptos"/>
              </a:rPr>
              <a:t> •</a:t>
            </a:r>
            <a:r>
              <a:rPr sz="1400" b="1" dirty="0">
                <a:latin typeface="Aptos"/>
              </a:rPr>
              <a:t> </a:t>
            </a:r>
            <a:r>
              <a:rPr lang="en-IN" sz="1400" b="1" dirty="0">
                <a:latin typeface="Aptos"/>
              </a:rPr>
              <a:t>Aditya Kumar</a:t>
            </a:r>
            <a:r>
              <a:rPr sz="1400" b="1" dirty="0">
                <a:latin typeface="Aptos"/>
              </a:rPr>
              <a:t> </a:t>
            </a:r>
            <a:r>
              <a:rPr lang="en-US" sz="1400" b="1" dirty="0">
                <a:latin typeface="Aptos"/>
              </a:rPr>
              <a:t> </a:t>
            </a:r>
            <a:r>
              <a:rPr lang="en-IN" sz="1400" b="1" dirty="0">
                <a:latin typeface="Aptos"/>
              </a:rPr>
              <a:t>	 </a:t>
            </a:r>
            <a:r>
              <a:rPr sz="1400" b="1" dirty="0">
                <a:latin typeface="Aptos"/>
              </a:rPr>
              <a:t>• </a:t>
            </a:r>
            <a:r>
              <a:rPr lang="en-IN" sz="1400" b="1" dirty="0">
                <a:latin typeface="Aptos"/>
              </a:rPr>
              <a:t>Kashish Yadav </a:t>
            </a:r>
            <a:r>
              <a:rPr lang="en-US" sz="1400" b="1" dirty="0">
                <a:latin typeface="Aptos"/>
              </a:rPr>
              <a:t>	   </a:t>
            </a:r>
            <a:r>
              <a:rPr sz="1400" b="1" dirty="0">
                <a:latin typeface="Aptos"/>
              </a:rPr>
              <a:t>• </a:t>
            </a:r>
            <a:r>
              <a:rPr lang="en-IN" sz="1400" b="1" dirty="0">
                <a:latin typeface="Aptos"/>
              </a:rPr>
              <a:t>Pankaj Sagar</a:t>
            </a:r>
            <a:r>
              <a:rPr sz="1400" b="1" dirty="0">
                <a:latin typeface="Aptos"/>
              </a:rPr>
              <a:t> </a:t>
            </a:r>
            <a:r>
              <a:rPr lang="en-IN" sz="1400" b="1" dirty="0">
                <a:latin typeface="Aptos"/>
              </a:rPr>
              <a:t>	 </a:t>
            </a:r>
            <a:r>
              <a:rPr sz="1400" b="1" dirty="0">
                <a:latin typeface="Aptos"/>
              </a:rPr>
              <a:t>• </a:t>
            </a:r>
            <a:r>
              <a:rPr lang="en-IN" sz="1400" b="1" dirty="0">
                <a:latin typeface="Aptos"/>
              </a:rPr>
              <a:t>Vivek Kumar</a:t>
            </a:r>
            <a:r>
              <a:rPr sz="1400" b="1" dirty="0">
                <a:latin typeface="Aptos"/>
              </a:rPr>
              <a:t> </a:t>
            </a:r>
            <a:r>
              <a:rPr lang="en-US" sz="1400" b="1" dirty="0">
                <a:latin typeface="Aptos"/>
              </a:rPr>
              <a:t> </a:t>
            </a:r>
            <a:r>
              <a:rPr lang="en-IN" sz="1400" b="1" dirty="0">
                <a:latin typeface="Aptos"/>
              </a:rPr>
              <a:t>•</a:t>
            </a:r>
            <a:r>
              <a:rPr sz="1400" b="1" dirty="0">
                <a:latin typeface="Aptos"/>
              </a:rPr>
              <a:t> </a:t>
            </a:r>
            <a:r>
              <a:rPr lang="en-IN" sz="1400" b="1" dirty="0">
                <a:latin typeface="Aptos"/>
              </a:rPr>
              <a:t>Manya Verma</a:t>
            </a:r>
            <a:endParaRPr sz="1400" b="1" dirty="0"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21040" y="6537960"/>
            <a:ext cx="32461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Track A • Churn Prediction &amp; Retention Strategy | 1/8</a:t>
            </a:r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DE6EBD40-CA2D-F655-E7C4-2DDBFAAD6625}"/>
              </a:ext>
            </a:extLst>
          </p:cNvPr>
          <p:cNvSpPr/>
          <p:nvPr/>
        </p:nvSpPr>
        <p:spPr>
          <a:xfrm>
            <a:off x="5207713" y="4153328"/>
            <a:ext cx="232748" cy="1351280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id="{2124AAE3-5FAA-6FF7-7DD7-B73EA6C597B6}"/>
              </a:ext>
            </a:extLst>
          </p:cNvPr>
          <p:cNvSpPr/>
          <p:nvPr/>
        </p:nvSpPr>
        <p:spPr>
          <a:xfrm>
            <a:off x="1660060" y="4105866"/>
            <a:ext cx="232748" cy="1373342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5D081DEB-6EC3-DDEE-1AE7-3CC2773CAA1E}"/>
              </a:ext>
            </a:extLst>
          </p:cNvPr>
          <p:cNvSpPr/>
          <p:nvPr/>
        </p:nvSpPr>
        <p:spPr>
          <a:xfrm>
            <a:off x="8755366" y="4123877"/>
            <a:ext cx="232748" cy="1355331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2340"/>
                </a:solidFill>
                <a:latin typeface="Aptos"/>
              </a:rPr>
              <a:t>1. The problem: customers leave before we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Simple business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1051560" cy="50292"/>
          </a:xfrm>
          <a:prstGeom prst="rect">
            <a:avLst/>
          </a:prstGeom>
          <a:solidFill>
            <a:srgbClr val="EF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0352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4919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2340"/>
                </a:solidFill>
                <a:latin typeface="Aptos"/>
              </a:rPr>
              <a:t>What we wanted to know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67128"/>
            <a:ext cx="4919472" cy="1179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Which subscribers are likely to leave?
Which of them are worth saving?
What should we spend to keep them?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03520" cy="1874519"/>
          </a:xfrm>
          <a:prstGeom prst="roundRect">
            <a:avLst>
              <a:gd name="adj" fmla="val 16768"/>
            </a:avLst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1674" y="1615441"/>
            <a:ext cx="232748" cy="1821178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rgbClr val="EF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764792"/>
            <a:ext cx="4919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2340"/>
                </a:solidFill>
                <a:latin typeface="Aptos"/>
              </a:rPr>
              <a:t>Why it matters to a telecom operator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67128"/>
            <a:ext cx="4919472" cy="1179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F2937"/>
                </a:solidFill>
                <a:latin typeface="Aptos"/>
              </a:rPr>
              <a:t>Losing a customer means losing future revenue.
A retention team also has limited time, so we cannot call everyone.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3977639"/>
            <a:ext cx="7132320" cy="384048"/>
          </a:xfrm>
          <a:prstGeom prst="round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14600" y="3966710"/>
            <a:ext cx="71323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Goal: find </a:t>
            </a:r>
            <a:r>
              <a:rPr sz="1600" b="1" dirty="0">
                <a:solidFill>
                  <a:srgbClr val="FFFFFF"/>
                </a:solidFill>
                <a:latin typeface="Aptos"/>
              </a:rPr>
              <a:t>the</a:t>
            </a:r>
            <a:r>
              <a:rPr b="1" dirty="0">
                <a:solidFill>
                  <a:srgbClr val="FFFFFF"/>
                </a:solidFill>
                <a:latin typeface="Aptos"/>
              </a:rPr>
              <a:t> right customers before they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60036"/>
            <a:ext cx="21488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112340"/>
                </a:solidFill>
                <a:latin typeface="Aptos"/>
              </a:rPr>
              <a:t>Customer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837176"/>
            <a:ext cx="4572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rgbClr val="EF8B2D"/>
                </a:solidFill>
                <a:latin typeface="Aptos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860036"/>
            <a:ext cx="21488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340"/>
                </a:solidFill>
                <a:latin typeface="Aptos"/>
              </a:rPr>
              <a:t>Churn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837176"/>
            <a:ext cx="4572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F8B2D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60036"/>
            <a:ext cx="21488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340"/>
                </a:solidFill>
                <a:latin typeface="Aptos"/>
              </a:rPr>
              <a:t>Retention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837176"/>
            <a:ext cx="4572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F8B2D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4860036"/>
            <a:ext cx="21488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340"/>
                </a:solidFill>
                <a:latin typeface="Aptos"/>
              </a:rPr>
              <a:t>Lower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6537960"/>
            <a:ext cx="3246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Track A • Churn Prediction &amp; Retention Strategy | 2/8</a:t>
            </a:r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id="{BF51C0EE-387A-28EB-09BC-C0EE998F25D7}"/>
              </a:ext>
            </a:extLst>
          </p:cNvPr>
          <p:cNvSpPr/>
          <p:nvPr/>
        </p:nvSpPr>
        <p:spPr>
          <a:xfrm>
            <a:off x="620692" y="1631443"/>
            <a:ext cx="232748" cy="1821178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2340"/>
                </a:solidFill>
                <a:latin typeface="Aptos"/>
              </a:rPr>
              <a:t>2. Data and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We first made the data safe and usable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1051560" cy="50292"/>
          </a:xfrm>
          <a:prstGeom prst="rect">
            <a:avLst/>
          </a:prstGeom>
          <a:solidFill>
            <a:srgbClr val="EF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52044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673351"/>
            <a:ext cx="31363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340"/>
                </a:solidFill>
                <a:latin typeface="Aptos"/>
              </a:rPr>
              <a:t>Subscriber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75688"/>
            <a:ext cx="313639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F2937"/>
                </a:solidFill>
                <a:latin typeface="Aptos"/>
              </a:rPr>
              <a:t>3,222 raw rows
3,200 unique subscribers
6 months of </a:t>
            </a:r>
            <a:r>
              <a:rPr sz="1600" b="0" dirty="0" err="1">
                <a:solidFill>
                  <a:srgbClr val="1F2937"/>
                </a:solidFill>
                <a:latin typeface="Aptos"/>
              </a:rPr>
              <a:t>behaviour</a:t>
            </a:r>
            <a:endParaRPr sz="1600" b="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673351"/>
            <a:ext cx="31363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340"/>
                </a:solidFill>
                <a:latin typeface="Aptos"/>
              </a:rPr>
              <a:t>Monthly usage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75688"/>
            <a:ext cx="313639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19,238 raw rows
19,200 after duplicate removal
6 months of usage + 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520440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673351"/>
            <a:ext cx="31363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340"/>
                </a:solidFill>
                <a:latin typeface="Aptos"/>
              </a:rPr>
              <a:t>Important repairs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75688"/>
            <a:ext cx="3136392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18 region names → 6
Missing values filled and flagged
Duplicate subscriber rows removed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947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12340"/>
                </a:solidFill>
                <a:latin typeface="Aptos"/>
              </a:rPr>
              <a:t>Pipeline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43400"/>
            <a:ext cx="169164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472530"/>
            <a:ext cx="16916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112340"/>
                </a:solidFill>
                <a:latin typeface="Aptos"/>
              </a:rPr>
              <a:t>Raw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1448" y="4428744"/>
            <a:ext cx="4572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rgbClr val="EF8B2D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4343400"/>
            <a:ext cx="169164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71800" y="4472530"/>
            <a:ext cx="16916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112340"/>
                </a:solidFill>
                <a:latin typeface="Aptos"/>
              </a:rPr>
              <a:t>Clean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428744"/>
            <a:ext cx="4572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rgbClr val="EF8B2D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0" y="4343400"/>
            <a:ext cx="169164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80" y="4472530"/>
            <a:ext cx="16916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12340"/>
                </a:solidFill>
                <a:latin typeface="Aptos"/>
              </a:rPr>
              <a:t>Join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4428744"/>
            <a:ext cx="4572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F8B2D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4343400"/>
            <a:ext cx="169164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52360" y="4472530"/>
            <a:ext cx="16916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12340"/>
                </a:solidFill>
                <a:latin typeface="Aptos"/>
              </a:rPr>
              <a:t>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4428744"/>
            <a:ext cx="4572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F8B2D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4343400"/>
            <a:ext cx="169164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92640" y="4472530"/>
            <a:ext cx="16916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112340"/>
                </a:solidFill>
                <a:latin typeface="Aptos"/>
              </a:rPr>
              <a:t>Model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20240" y="5532120"/>
            <a:ext cx="8321040" cy="384048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920240" y="5536579"/>
            <a:ext cx="83210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The pipeline can be run twice and gives the same 3,200-row 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6537960"/>
            <a:ext cx="3246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Track A • Churn Prediction &amp; Retention Strategy | 3/8</a:t>
            </a: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027A2FF9-9363-7F67-5B2D-B875DFCCFA9A}"/>
              </a:ext>
            </a:extLst>
          </p:cNvPr>
          <p:cNvSpPr/>
          <p:nvPr/>
        </p:nvSpPr>
        <p:spPr>
          <a:xfrm>
            <a:off x="4311820" y="1520138"/>
            <a:ext cx="232748" cy="1821178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rgbClr val="EF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C7577A0F-493A-8D24-946B-871E5B252221}"/>
              </a:ext>
            </a:extLst>
          </p:cNvPr>
          <p:cNvSpPr/>
          <p:nvPr/>
        </p:nvSpPr>
        <p:spPr>
          <a:xfrm>
            <a:off x="624289" y="1520138"/>
            <a:ext cx="232748" cy="1821178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10">
            <a:extLst>
              <a:ext uri="{FF2B5EF4-FFF2-40B4-BE49-F238E27FC236}">
                <a16:creationId xmlns:a16="http://schemas.microsoft.com/office/drawing/2014/main" id="{FD884D7D-716A-EDD1-7AC4-F5488B20AF90}"/>
              </a:ext>
            </a:extLst>
          </p:cNvPr>
          <p:cNvSpPr/>
          <p:nvPr/>
        </p:nvSpPr>
        <p:spPr>
          <a:xfrm>
            <a:off x="8015140" y="1527048"/>
            <a:ext cx="232748" cy="1821178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2340"/>
                </a:solidFill>
                <a:latin typeface="Aptos"/>
              </a:rPr>
              <a:t>3. Model: use the honest number, not the inflated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Leakage check was critical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1051560" cy="50292"/>
          </a:xfrm>
          <a:prstGeom prst="rect">
            <a:avLst/>
          </a:prstGeom>
          <a:solidFill>
            <a:srgbClr val="EF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394960" cy="155448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73351"/>
            <a:ext cx="50109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12340"/>
                </a:solidFill>
                <a:latin typeface="Aptos"/>
              </a:rPr>
              <a:t>First: remove information we would not know in advance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5010912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F2937"/>
                </a:solidFill>
                <a:latin typeface="Aptos"/>
              </a:rPr>
              <a:t>We removed </a:t>
            </a:r>
            <a:r>
              <a:rPr sz="1600" b="0" dirty="0" err="1">
                <a:solidFill>
                  <a:srgbClr val="1F2937"/>
                </a:solidFill>
                <a:latin typeface="Aptos"/>
              </a:rPr>
              <a:t>retention_offer_sent</a:t>
            </a:r>
            <a:r>
              <a:rPr sz="1600" b="0" dirty="0">
                <a:solidFill>
                  <a:srgbClr val="1F2937"/>
                </a:solidFill>
                <a:latin typeface="Aptos"/>
              </a:rPr>
              <a:t> and </a:t>
            </a:r>
            <a:r>
              <a:rPr sz="1600" b="0" dirty="0" err="1">
                <a:solidFill>
                  <a:srgbClr val="1F2937"/>
                </a:solidFill>
                <a:latin typeface="Aptos"/>
              </a:rPr>
              <a:t>total_charges</a:t>
            </a:r>
            <a:r>
              <a:rPr sz="1600" b="0" dirty="0">
                <a:solidFill>
                  <a:srgbClr val="1F2937"/>
                </a:solidFill>
                <a:latin typeface="Aptos"/>
              </a:rPr>
              <a:t>.
They contain information created after or directly from the outcome.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0156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2340"/>
                </a:solidFill>
                <a:latin typeface="Aptos"/>
              </a:rPr>
              <a:t>ROC-AUC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99916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F2937"/>
                </a:solidFill>
                <a:latin typeface="Aptos"/>
              </a:rPr>
              <a:t>With leakage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7120" y="3904488"/>
            <a:ext cx="3840480" cy="310896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57120" y="3904488"/>
            <a:ext cx="3633094" cy="310896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4760" y="387705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2340"/>
                </a:solidFill>
                <a:latin typeface="Aptos"/>
              </a:rPr>
              <a:t>0.946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48556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F2937"/>
                </a:solidFill>
                <a:latin typeface="Aptos"/>
              </a:rPr>
              <a:t>Without leakage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7120" y="4453128"/>
            <a:ext cx="3840480" cy="310896"/>
          </a:xfrm>
          <a:prstGeom prst="rect">
            <a:avLst/>
          </a:prstGeom>
          <a:solidFill>
            <a:srgbClr val="E1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357120" y="4453128"/>
            <a:ext cx="2799709" cy="31089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4760" y="44256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12340"/>
                </a:solidFill>
                <a:latin typeface="Aptos"/>
              </a:rPr>
              <a:t>0.729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508760"/>
            <a:ext cx="416052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16368" y="1673351"/>
            <a:ext cx="3776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2340"/>
                </a:solidFill>
                <a:latin typeface="Aptos"/>
              </a:rPr>
              <a:t>What we learned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2075688"/>
            <a:ext cx="3776472" cy="2308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1F2937"/>
                </a:solidFill>
                <a:latin typeface="Aptos"/>
              </a:rPr>
              <a:t>0.946 looks impressive, but it cannot be used in real life.
The honest model score is 0.729.
Accuracy is also not enough: the do-nothing baseline is already 76.0% accurate.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5257800"/>
            <a:ext cx="3246120" cy="384048"/>
          </a:xfrm>
          <a:prstGeom prst="round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18120" y="5277647"/>
            <a:ext cx="32461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Honest model = 0.729 ROC-AUC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6537960"/>
            <a:ext cx="3246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Track A • Churn Prediction &amp; Retention Strategy | 4/8</a:t>
            </a:r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id="{84CA32DC-61B9-A1C0-3DAB-F0EC7B07683D}"/>
              </a:ext>
            </a:extLst>
          </p:cNvPr>
          <p:cNvSpPr/>
          <p:nvPr/>
        </p:nvSpPr>
        <p:spPr>
          <a:xfrm>
            <a:off x="673270" y="1508760"/>
            <a:ext cx="232748" cy="1554480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0ED51D02-BE10-F789-A453-6AD1CB450777}"/>
              </a:ext>
            </a:extLst>
          </p:cNvPr>
          <p:cNvSpPr/>
          <p:nvPr/>
        </p:nvSpPr>
        <p:spPr>
          <a:xfrm>
            <a:off x="7283620" y="1673351"/>
            <a:ext cx="232748" cy="3081529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2340"/>
                </a:solidFill>
                <a:latin typeface="Aptos"/>
              </a:rPr>
              <a:t>4. What the analysis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The strongest business signal was customer complaints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1051560" cy="50292"/>
          </a:xfrm>
          <a:prstGeom prst="rect">
            <a:avLst/>
          </a:prstGeom>
          <a:solidFill>
            <a:srgbClr val="EF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693812" y="2018274"/>
            <a:ext cx="2743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12340"/>
                </a:solidFill>
                <a:latin typeface="Aptos"/>
              </a:rPr>
              <a:t>Target segment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691824"/>
            <a:ext cx="2011680" cy="2011680"/>
          </a:xfrm>
          <a:prstGeom prst="ellipse">
            <a:avLst/>
          </a:prstGeom>
          <a:solidFill>
            <a:srgbClr val="EF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005840" y="3267896"/>
            <a:ext cx="17373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Aptos"/>
              </a:rPr>
              <a:t>12.2%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89104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of subscribers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874704"/>
            <a:ext cx="15544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BE4141"/>
                </a:solidFill>
                <a:latin typeface="Aptos"/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37762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churn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971984"/>
            <a:ext cx="15544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897B"/>
                </a:solidFill>
                <a:latin typeface="Aptos"/>
              </a:rPr>
              <a:t>24.1%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4456616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overall churn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08760"/>
            <a:ext cx="539496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053328" y="1673351"/>
            <a:ext cx="501091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340"/>
                </a:solidFill>
                <a:latin typeface="Aptos"/>
              </a:rPr>
              <a:t>Why this group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2047407"/>
            <a:ext cx="501091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F2937"/>
                </a:solidFill>
                <a:latin typeface="Aptos"/>
              </a:rPr>
              <a:t>It has much higher churn than the full customer base.
It is mainly defined by complaints, not by high spending.
That makes it a clear group for a focused retention campaign.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794760"/>
            <a:ext cx="53949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053328" y="3959352"/>
            <a:ext cx="501091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340"/>
                </a:solidFill>
                <a:latin typeface="Aptos"/>
              </a:rPr>
              <a:t>Risk +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4333407"/>
            <a:ext cx="501091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F2937"/>
                </a:solidFill>
                <a:latin typeface="Aptos"/>
              </a:rPr>
              <a:t>We ranked customers using both churn risk and ARPU, so the team can focus on customers where saving the account matters most.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6537960"/>
            <a:ext cx="32461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Track A • Churn Prediction &amp; Retention Strategy | 5/8</a:t>
            </a:r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429CF2A6-3208-0F8D-AF8E-4AD7548A6E15}"/>
              </a:ext>
            </a:extLst>
          </p:cNvPr>
          <p:cNvSpPr/>
          <p:nvPr/>
        </p:nvSpPr>
        <p:spPr>
          <a:xfrm>
            <a:off x="5821130" y="1538661"/>
            <a:ext cx="232748" cy="1905072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rgbClr val="EF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8E6ED5C8-3AE8-47CB-7384-42911373F736}"/>
              </a:ext>
            </a:extLst>
          </p:cNvPr>
          <p:cNvSpPr/>
          <p:nvPr/>
        </p:nvSpPr>
        <p:spPr>
          <a:xfrm>
            <a:off x="5820580" y="3794760"/>
            <a:ext cx="232748" cy="1417320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2340"/>
                </a:solidFill>
                <a:latin typeface="Aptos"/>
              </a:rPr>
              <a:t>5. Costed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Three choices — including doing nothing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1051560" cy="50292"/>
          </a:xfrm>
          <a:prstGeom prst="rect">
            <a:avLst/>
          </a:prstGeom>
          <a:solidFill>
            <a:srgbClr val="EF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429000" cy="315468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795528" y="1764792"/>
            <a:ext cx="304495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340"/>
                </a:solidFill>
                <a:latin typeface="Aptos"/>
              </a:rPr>
              <a:t>Do nothing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67128"/>
            <a:ext cx="304495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Cost: ₹0
No extra retention spend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251960"/>
            <a:ext cx="2240280" cy="384048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188720" y="4287196"/>
            <a:ext cx="22402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29000" cy="315468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4590288" y="1764792"/>
            <a:ext cx="304495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340"/>
                </a:solidFill>
                <a:latin typeface="Aptos"/>
              </a:rPr>
              <a:t>Retention 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167128"/>
            <a:ext cx="304495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F2937"/>
                </a:solidFill>
                <a:latin typeface="Aptos"/>
              </a:rPr>
              <a:t>₹300/customer
Assumed 15% churn reduction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4251960"/>
            <a:ext cx="2240280" cy="384048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983480" y="4287196"/>
            <a:ext cx="22402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Recommended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600200"/>
            <a:ext cx="3429000" cy="315468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8385048" y="1764792"/>
            <a:ext cx="304495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340"/>
                </a:solidFill>
                <a:latin typeface="Aptos"/>
              </a:rPr>
              <a:t>Bill credit +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167128"/>
            <a:ext cx="304495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₹550/customer
Assumed 25% churn reduction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4251960"/>
            <a:ext cx="2240280" cy="384048"/>
          </a:xfrm>
          <a:prstGeom prst="roundRect">
            <a:avLst/>
          </a:prstGeom>
          <a:solidFill>
            <a:srgbClr val="EF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8778240" y="4287196"/>
            <a:ext cx="22402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More expensive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074920"/>
            <a:ext cx="1033272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Rectangle 24"/>
          <p:cNvSpPr/>
          <p:nvPr/>
        </p:nvSpPr>
        <p:spPr>
          <a:xfrm>
            <a:off x="914400" y="5074920"/>
            <a:ext cx="73152" cy="86868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1115568" y="5239512"/>
            <a:ext cx="994867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340"/>
                </a:solidFill>
                <a:latin typeface="Aptos"/>
              </a:rPr>
              <a:t>Important assumption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5641848"/>
            <a:ext cx="994867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The 15% and 25% retention effects are assumptions from the project brief, not measured campaign results. They should be tested in a real pilot.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537960"/>
            <a:ext cx="32461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Track A • Churn Prediction &amp; Retention Strategy | 6/8</a:t>
            </a:r>
          </a:p>
        </p:txBody>
      </p:sp>
      <p:sp>
        <p:nvSpPr>
          <p:cNvPr id="36" name="Rectangle 10">
            <a:extLst>
              <a:ext uri="{FF2B5EF4-FFF2-40B4-BE49-F238E27FC236}">
                <a16:creationId xmlns:a16="http://schemas.microsoft.com/office/drawing/2014/main" id="{D351C0C2-E970-4EA0-BC93-91B3775514B7}"/>
              </a:ext>
            </a:extLst>
          </p:cNvPr>
          <p:cNvSpPr/>
          <p:nvPr/>
        </p:nvSpPr>
        <p:spPr>
          <a:xfrm>
            <a:off x="4333707" y="1669288"/>
            <a:ext cx="284013" cy="2972816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10">
            <a:extLst>
              <a:ext uri="{FF2B5EF4-FFF2-40B4-BE49-F238E27FC236}">
                <a16:creationId xmlns:a16="http://schemas.microsoft.com/office/drawing/2014/main" id="{B0B0C4B4-659F-8781-5F52-C49FE00855CB}"/>
              </a:ext>
            </a:extLst>
          </p:cNvPr>
          <p:cNvSpPr/>
          <p:nvPr/>
        </p:nvSpPr>
        <p:spPr>
          <a:xfrm>
            <a:off x="579120" y="1662378"/>
            <a:ext cx="284013" cy="2973630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10">
            <a:extLst>
              <a:ext uri="{FF2B5EF4-FFF2-40B4-BE49-F238E27FC236}">
                <a16:creationId xmlns:a16="http://schemas.microsoft.com/office/drawing/2014/main" id="{3D937527-8D3B-85BC-A7CB-4D931B709246}"/>
              </a:ext>
            </a:extLst>
          </p:cNvPr>
          <p:cNvSpPr/>
          <p:nvPr/>
        </p:nvSpPr>
        <p:spPr>
          <a:xfrm>
            <a:off x="8116275" y="1669288"/>
            <a:ext cx="284013" cy="2973630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2340"/>
                </a:solidFill>
                <a:latin typeface="Aptos"/>
              </a:rPr>
              <a:t>6. Recommendation — SIAV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A simple business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1051560" cy="50292"/>
          </a:xfrm>
          <a:prstGeom prst="rect">
            <a:avLst/>
          </a:prstGeom>
          <a:solidFill>
            <a:srgbClr val="EF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89BA6C3-0AB4-C141-963A-9CA832123341}"/>
              </a:ext>
            </a:extLst>
          </p:cNvPr>
          <p:cNvGrpSpPr/>
          <p:nvPr/>
        </p:nvGrpSpPr>
        <p:grpSpPr>
          <a:xfrm>
            <a:off x="685800" y="1475195"/>
            <a:ext cx="658368" cy="658368"/>
            <a:chOff x="685800" y="1417320"/>
            <a:chExt cx="658368" cy="658368"/>
          </a:xfrm>
        </p:grpSpPr>
        <p:sp>
          <p:nvSpPr>
            <p:cNvPr id="6" name="Oval 5"/>
            <p:cNvSpPr/>
            <p:nvPr/>
          </p:nvSpPr>
          <p:spPr>
            <a:xfrm>
              <a:off x="685800" y="1417320"/>
              <a:ext cx="658368" cy="658368"/>
            </a:xfrm>
            <a:prstGeom prst="ellipse">
              <a:avLst/>
            </a:prstGeom>
            <a:solidFill>
              <a:srgbClr val="1123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85800" y="1517904"/>
              <a:ext cx="658368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400" b="1" dirty="0">
                  <a:solidFill>
                    <a:srgbClr val="FFFFFF"/>
                  </a:solidFill>
                  <a:latin typeface="Aptos"/>
                </a:rPr>
                <a:t>S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554480" y="1619713"/>
            <a:ext cx="12344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340"/>
                </a:solidFill>
                <a:latin typeface="Aptos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35102"/>
            <a:ext cx="84124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1F2937"/>
                </a:solidFill>
                <a:latin typeface="Aptos"/>
              </a:rPr>
              <a:t>We are losing subscribers and finding out too late.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51A302E-C3AF-6186-5802-7444EB987775}"/>
              </a:ext>
            </a:extLst>
          </p:cNvPr>
          <p:cNvGrpSpPr/>
          <p:nvPr/>
        </p:nvGrpSpPr>
        <p:grpSpPr>
          <a:xfrm>
            <a:off x="685800" y="2589239"/>
            <a:ext cx="658368" cy="658368"/>
            <a:chOff x="685800" y="2532888"/>
            <a:chExt cx="658368" cy="658368"/>
          </a:xfrm>
        </p:grpSpPr>
        <p:sp>
          <p:nvSpPr>
            <p:cNvPr id="10" name="Oval 9"/>
            <p:cNvSpPr/>
            <p:nvPr/>
          </p:nvSpPr>
          <p:spPr>
            <a:xfrm>
              <a:off x="685800" y="2532888"/>
              <a:ext cx="658368" cy="658368"/>
            </a:xfrm>
            <a:prstGeom prst="ellipse">
              <a:avLst/>
            </a:prstGeom>
            <a:solidFill>
              <a:srgbClr val="0089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85800" y="2633472"/>
              <a:ext cx="658368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Aptos"/>
                </a:rPr>
                <a:t>I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554480" y="2733757"/>
            <a:ext cx="12344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340"/>
                </a:solidFill>
                <a:latin typeface="Aptos"/>
              </a:rPr>
              <a:t>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749146"/>
            <a:ext cx="84124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1F2937"/>
                </a:solidFill>
                <a:latin typeface="Aptos"/>
              </a:rPr>
              <a:t>A 12.2% segment has 40% churn, much higher than the 24.1% book average.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CDED73-BD45-A1AD-F12E-F239D05349BC}"/>
              </a:ext>
            </a:extLst>
          </p:cNvPr>
          <p:cNvGrpSpPr/>
          <p:nvPr/>
        </p:nvGrpSpPr>
        <p:grpSpPr>
          <a:xfrm>
            <a:off x="685800" y="3703283"/>
            <a:ext cx="658368" cy="658368"/>
            <a:chOff x="685800" y="3643884"/>
            <a:chExt cx="658368" cy="658368"/>
          </a:xfrm>
        </p:grpSpPr>
        <p:sp>
          <p:nvSpPr>
            <p:cNvPr id="14" name="Oval 13"/>
            <p:cNvSpPr/>
            <p:nvPr/>
          </p:nvSpPr>
          <p:spPr>
            <a:xfrm>
              <a:off x="685800" y="3643884"/>
              <a:ext cx="658368" cy="658368"/>
            </a:xfrm>
            <a:prstGeom prst="ellipse">
              <a:avLst/>
            </a:prstGeom>
            <a:solidFill>
              <a:srgbClr val="EF8B2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5800" y="3744468"/>
              <a:ext cx="658368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400" b="1" dirty="0">
                  <a:solidFill>
                    <a:srgbClr val="FFFFFF"/>
                  </a:solidFill>
                  <a:latin typeface="Aptos"/>
                </a:rPr>
                <a:t>A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554480" y="3847801"/>
            <a:ext cx="12344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340"/>
                </a:solidFill>
                <a:latin typeface="Aptos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863190"/>
            <a:ext cx="84124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1F2937"/>
                </a:solidFill>
                <a:latin typeface="Aptos"/>
              </a:rPr>
              <a:t>Route this group to proactive retention before renewal, ranked by risk × value.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1D3C657-B52D-B3AA-29AC-1DB6B588D992}"/>
              </a:ext>
            </a:extLst>
          </p:cNvPr>
          <p:cNvGrpSpPr/>
          <p:nvPr/>
        </p:nvGrpSpPr>
        <p:grpSpPr>
          <a:xfrm>
            <a:off x="685800" y="4817327"/>
            <a:ext cx="658368" cy="658368"/>
            <a:chOff x="685800" y="4759452"/>
            <a:chExt cx="658368" cy="658368"/>
          </a:xfrm>
        </p:grpSpPr>
        <p:sp>
          <p:nvSpPr>
            <p:cNvPr id="18" name="Oval 17"/>
            <p:cNvSpPr/>
            <p:nvPr/>
          </p:nvSpPr>
          <p:spPr>
            <a:xfrm>
              <a:off x="685800" y="4759452"/>
              <a:ext cx="658368" cy="658368"/>
            </a:xfrm>
            <a:prstGeom prst="ellipse">
              <a:avLst/>
            </a:prstGeom>
            <a:solidFill>
              <a:srgbClr val="228B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5800" y="4860036"/>
              <a:ext cx="658368" cy="4572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Aptos"/>
                </a:rPr>
                <a:t>V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554480" y="4961845"/>
            <a:ext cx="12344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340"/>
                </a:solidFill>
                <a:latin typeface="Aptos"/>
              </a:rPr>
              <a:t>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977234"/>
            <a:ext cx="84124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1F2937"/>
                </a:solidFill>
                <a:latin typeface="Aptos"/>
              </a:rPr>
              <a:t>A retention call costs ₹300/customer; test the assumed impact before scaling.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5897880"/>
            <a:ext cx="8138160" cy="384048"/>
          </a:xfrm>
          <a:prstGeom prst="round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2057400" y="5902339"/>
            <a:ext cx="81381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Start small → measure real retention impact → scale only if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6537960"/>
            <a:ext cx="32461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Track A • Churn Prediction &amp; Retention Strategy | 7/8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2340"/>
                </a:solidFill>
                <a:latin typeface="Aptos"/>
              </a:rPr>
              <a:t>7. Outputs, limitation and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What we would hand to the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1051560" cy="50292"/>
          </a:xfrm>
          <a:prstGeom prst="rect">
            <a:avLst/>
          </a:prstGeom>
          <a:solidFill>
            <a:srgbClr val="EF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313639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340"/>
                </a:solidFill>
                <a:latin typeface="Aptos"/>
              </a:rPr>
              <a:t>Project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84248"/>
            <a:ext cx="3136392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• Clean 3,200-subscriber dataset
• Churn risk score for each subscriber
• Target segment profile
• Risk × value call list
• Cost comparison +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4544568" y="1581912"/>
            <a:ext cx="313639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340"/>
                </a:solidFill>
                <a:latin typeface="Aptos"/>
              </a:rPr>
              <a:t>Honest 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84248"/>
            <a:ext cx="3136392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We do not have real campaign results, so the retention effect is assumed. Also, the model recall at the default 0.5 threshold is 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52044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8247888" y="1581912"/>
            <a:ext cx="313639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340"/>
                </a:solidFill>
                <a:latin typeface="Aptos"/>
              </a:rPr>
              <a:t>Next </a:t>
            </a:r>
            <a:r>
              <a:rPr lang="en-US" b="1" dirty="0">
                <a:solidFill>
                  <a:srgbClr val="112340"/>
                </a:solidFill>
                <a:latin typeface="Aptos"/>
              </a:rPr>
              <a:t>steps</a:t>
            </a:r>
            <a:endParaRPr b="1" dirty="0">
              <a:solidFill>
                <a:srgbClr val="11234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47888" y="1984248"/>
            <a:ext cx="3136392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Run a controlled retention pilot.
Measure saves, cost per save and revenue kept.
Then update the threshold and campaign.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20116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2340"/>
                </a:solidFill>
                <a:latin typeface="Aptos"/>
              </a:rPr>
              <a:t>Key numbers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26280"/>
            <a:ext cx="1828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00897B"/>
                </a:solidFill>
                <a:latin typeface="Aptos"/>
              </a:rPr>
              <a:t>3,200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29200"/>
            <a:ext cx="1828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64748B"/>
                </a:solidFill>
                <a:latin typeface="Aptos"/>
              </a:rPr>
              <a:t>unique subscribers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526280"/>
            <a:ext cx="1828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00897B"/>
                </a:solidFill>
                <a:latin typeface="Aptos"/>
              </a:rPr>
              <a:t>0.729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029200"/>
            <a:ext cx="1828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ptos"/>
              </a:rPr>
              <a:t>honest ROC-AUC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4526280"/>
            <a:ext cx="1828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897B"/>
                </a:solidFill>
                <a:latin typeface="Aptos"/>
              </a:rPr>
              <a:t>12.2%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5029200"/>
            <a:ext cx="1828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ptos"/>
              </a:rPr>
              <a:t>target segment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526280"/>
            <a:ext cx="1828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897B"/>
                </a:solidFill>
                <a:latin typeface="Aptos"/>
              </a:rPr>
              <a:t>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5029200"/>
            <a:ext cx="1828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ptos"/>
              </a:rPr>
              <a:t>target churn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4526280"/>
            <a:ext cx="1828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897B"/>
                </a:solidFill>
                <a:latin typeface="Aptos"/>
              </a:rPr>
              <a:t>₹300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5029200"/>
            <a:ext cx="1828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ptos"/>
              </a:rPr>
              <a:t>call cost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74519" y="5806440"/>
            <a:ext cx="8412480" cy="384048"/>
          </a:xfrm>
          <a:prstGeom prst="roundRect">
            <a:avLst/>
          </a:prstGeom>
          <a:solidFill>
            <a:srgbClr val="EF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1874519" y="5810898"/>
            <a:ext cx="8412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Decision: pilot proactive retention for the high-risk complaint segment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537960"/>
            <a:ext cx="32461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Track A • Churn Prediction &amp; Retention Strategy | 8/8</a:t>
            </a:r>
          </a:p>
        </p:txBody>
      </p:sp>
      <p:sp>
        <p:nvSpPr>
          <p:cNvPr id="33" name="Rectangle 10">
            <a:extLst>
              <a:ext uri="{FF2B5EF4-FFF2-40B4-BE49-F238E27FC236}">
                <a16:creationId xmlns:a16="http://schemas.microsoft.com/office/drawing/2014/main" id="{59E60689-B710-8862-A02C-1CC0DEFA4AFB}"/>
              </a:ext>
            </a:extLst>
          </p:cNvPr>
          <p:cNvSpPr/>
          <p:nvPr/>
        </p:nvSpPr>
        <p:spPr>
          <a:xfrm>
            <a:off x="4311820" y="1443990"/>
            <a:ext cx="232748" cy="1985010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rgbClr val="EF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10">
            <a:extLst>
              <a:ext uri="{FF2B5EF4-FFF2-40B4-BE49-F238E27FC236}">
                <a16:creationId xmlns:a16="http://schemas.microsoft.com/office/drawing/2014/main" id="{210E3B10-2792-B4C9-57D0-29E607931CCF}"/>
              </a:ext>
            </a:extLst>
          </p:cNvPr>
          <p:cNvSpPr/>
          <p:nvPr/>
        </p:nvSpPr>
        <p:spPr>
          <a:xfrm>
            <a:off x="624289" y="1443990"/>
            <a:ext cx="232748" cy="1985010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10">
            <a:extLst>
              <a:ext uri="{FF2B5EF4-FFF2-40B4-BE49-F238E27FC236}">
                <a16:creationId xmlns:a16="http://schemas.microsoft.com/office/drawing/2014/main" id="{935BE9A3-091E-61D6-0CC0-E2FCB7BCBBB2}"/>
              </a:ext>
            </a:extLst>
          </p:cNvPr>
          <p:cNvSpPr/>
          <p:nvPr/>
        </p:nvSpPr>
        <p:spPr>
          <a:xfrm>
            <a:off x="8015140" y="1450900"/>
            <a:ext cx="232748" cy="1985010"/>
          </a:xfrm>
          <a:custGeom>
            <a:avLst/>
            <a:gdLst>
              <a:gd name="csX0" fmla="*/ 0 w 73152"/>
              <a:gd name="csY0" fmla="*/ 0 h 1642108"/>
              <a:gd name="csX1" fmla="*/ 73152 w 73152"/>
              <a:gd name="csY1" fmla="*/ 0 h 1642108"/>
              <a:gd name="csX2" fmla="*/ 73152 w 73152"/>
              <a:gd name="csY2" fmla="*/ 1642108 h 1642108"/>
              <a:gd name="csX3" fmla="*/ 0 w 73152"/>
              <a:gd name="csY3" fmla="*/ 1642108 h 1642108"/>
              <a:gd name="csX4" fmla="*/ 0 w 73152"/>
              <a:gd name="csY4" fmla="*/ 0 h 1642108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743073"/>
              <a:gd name="csX1" fmla="*/ 206502 w 206502"/>
              <a:gd name="csY1" fmla="*/ 0 h 1743073"/>
              <a:gd name="csX2" fmla="*/ 73152 w 206502"/>
              <a:gd name="csY2" fmla="*/ 1743073 h 1743073"/>
              <a:gd name="csX3" fmla="*/ 0 w 206502"/>
              <a:gd name="csY3" fmla="*/ 1743073 h 1743073"/>
              <a:gd name="csX4" fmla="*/ 0 w 206502"/>
              <a:gd name="csY4" fmla="*/ 100965 h 1743073"/>
              <a:gd name="csX0" fmla="*/ 0 w 206502"/>
              <a:gd name="csY0" fmla="*/ 100965 h 1821178"/>
              <a:gd name="csX1" fmla="*/ 206502 w 206502"/>
              <a:gd name="csY1" fmla="*/ 0 h 1821178"/>
              <a:gd name="csX2" fmla="*/ 155067 w 206502"/>
              <a:gd name="csY2" fmla="*/ 1821178 h 1821178"/>
              <a:gd name="csX3" fmla="*/ 0 w 206502"/>
              <a:gd name="csY3" fmla="*/ 1743073 h 1821178"/>
              <a:gd name="csX4" fmla="*/ 0 w 206502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  <a:gd name="csX0" fmla="*/ 26246 w 232748"/>
              <a:gd name="csY0" fmla="*/ 100965 h 1821178"/>
              <a:gd name="csX1" fmla="*/ 232748 w 232748"/>
              <a:gd name="csY1" fmla="*/ 0 h 1821178"/>
              <a:gd name="csX2" fmla="*/ 181313 w 232748"/>
              <a:gd name="csY2" fmla="*/ 1821178 h 1821178"/>
              <a:gd name="csX3" fmla="*/ 26246 w 232748"/>
              <a:gd name="csY3" fmla="*/ 1743073 h 1821178"/>
              <a:gd name="csX4" fmla="*/ 26246 w 232748"/>
              <a:gd name="csY4" fmla="*/ 100965 h 182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2748" h="1821178">
                <a:moveTo>
                  <a:pt x="26246" y="100965"/>
                </a:moveTo>
                <a:lnTo>
                  <a:pt x="232748" y="0"/>
                </a:lnTo>
                <a:cubicBezTo>
                  <a:pt x="-4107" y="270509"/>
                  <a:pt x="225763" y="1240154"/>
                  <a:pt x="181313" y="1821178"/>
                </a:cubicBezTo>
                <a:cubicBezTo>
                  <a:pt x="129624" y="1795143"/>
                  <a:pt x="85555" y="1767203"/>
                  <a:pt x="26246" y="1743073"/>
                </a:cubicBezTo>
                <a:cubicBezTo>
                  <a:pt x="-32809" y="1717674"/>
                  <a:pt x="26246" y="648334"/>
                  <a:pt x="26246" y="10096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102</TotalTime>
  <Words>814</Words>
  <Application>Microsoft Office PowerPoint</Application>
  <PresentationFormat>Widescreen</PresentationFormat>
  <Paragraphs>124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Kumar</cp:lastModifiedBy>
  <cp:revision>4</cp:revision>
  <dcterms:created xsi:type="dcterms:W3CDTF">2013-01-27T09:14:16Z</dcterms:created>
  <dcterms:modified xsi:type="dcterms:W3CDTF">2026-08-14T06:56:47Z</dcterms:modified>
  <cp:category/>
</cp:coreProperties>
</file>