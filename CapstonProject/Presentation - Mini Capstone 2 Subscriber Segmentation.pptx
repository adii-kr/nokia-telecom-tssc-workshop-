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elvetica World" charset="1" panose="020B0500040000020004"/>
      <p:regular r:id="rId14"/>
    </p:embeddedFont>
    <p:embeddedFont>
      <p:font typeface="Georgia Pro Condensed" charset="1" panose="02040506050405020303"/>
      <p:regular r:id="rId15"/>
    </p:embeddedFont>
    <p:embeddedFont>
      <p:font typeface="Helvetica World Bold" charset="1" panose="020B080004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0429875" cy="10299700"/>
            <a:chOff x="0" y="0"/>
            <a:chExt cx="896995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6995" cy="885799"/>
            </a:xfrm>
            <a:custGeom>
              <a:avLst/>
              <a:gdLst/>
              <a:ahLst/>
              <a:cxnLst/>
              <a:rect r="r" b="b" t="t" l="l"/>
              <a:pathLst>
                <a:path h="885799" w="896995">
                  <a:moveTo>
                    <a:pt x="0" y="0"/>
                  </a:moveTo>
                  <a:lnTo>
                    <a:pt x="896995" y="0"/>
                  </a:lnTo>
                  <a:lnTo>
                    <a:pt x="896995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1F3A6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46115" y="362743"/>
            <a:ext cx="7181567" cy="9580565"/>
            <a:chOff x="0" y="0"/>
            <a:chExt cx="950451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0451" cy="1267949"/>
            </a:xfrm>
            <a:custGeom>
              <a:avLst/>
              <a:gdLst/>
              <a:ahLst/>
              <a:cxnLst/>
              <a:rect r="r" b="b" t="t" l="l"/>
              <a:pathLst>
                <a:path h="1267949" w="950451">
                  <a:moveTo>
                    <a:pt x="21561" y="0"/>
                  </a:moveTo>
                  <a:lnTo>
                    <a:pt x="928890" y="0"/>
                  </a:lnTo>
                  <a:cubicBezTo>
                    <a:pt x="940798" y="0"/>
                    <a:pt x="950451" y="9653"/>
                    <a:pt x="950451" y="21561"/>
                  </a:cubicBezTo>
                  <a:lnTo>
                    <a:pt x="950451" y="1246388"/>
                  </a:lnTo>
                  <a:cubicBezTo>
                    <a:pt x="950451" y="1252106"/>
                    <a:pt x="948179" y="1257590"/>
                    <a:pt x="944136" y="1261634"/>
                  </a:cubicBezTo>
                  <a:cubicBezTo>
                    <a:pt x="940093" y="1265677"/>
                    <a:pt x="934609" y="1267949"/>
                    <a:pt x="928890" y="1267949"/>
                  </a:cubicBezTo>
                  <a:lnTo>
                    <a:pt x="21561" y="1267949"/>
                  </a:lnTo>
                  <a:cubicBezTo>
                    <a:pt x="9653" y="1267949"/>
                    <a:pt x="0" y="1258296"/>
                    <a:pt x="0" y="1246388"/>
                  </a:cubicBezTo>
                  <a:lnTo>
                    <a:pt x="0" y="21561"/>
                  </a:lnTo>
                  <a:cubicBezTo>
                    <a:pt x="0" y="9653"/>
                    <a:pt x="9653" y="0"/>
                    <a:pt x="2156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8562" r="0" b="-856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75380" y="8934768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E1E9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Finding Our Best Customers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65543"/>
            <a:ext cx="9754495" cy="371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01"/>
              </a:lnSpc>
            </a:pPr>
            <a:r>
              <a:rPr lang="en-US" sz="14301" spc="-500" strike="noStrike" u="none">
                <a:solidFill>
                  <a:srgbClr val="E1E9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Subscriber Segmentation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30677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1E9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96364" y="496364"/>
            <a:ext cx="17295272" cy="9294272"/>
            <a:chOff x="0" y="0"/>
            <a:chExt cx="4555133" cy="2447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55133" cy="2447874"/>
            </a:xfrm>
            <a:custGeom>
              <a:avLst/>
              <a:gdLst/>
              <a:ahLst/>
              <a:cxnLst/>
              <a:rect r="r" b="b" t="t" l="l"/>
              <a:pathLst>
                <a:path h="2447874" w="4555133">
                  <a:moveTo>
                    <a:pt x="20143" y="0"/>
                  </a:moveTo>
                  <a:lnTo>
                    <a:pt x="4534990" y="0"/>
                  </a:lnTo>
                  <a:cubicBezTo>
                    <a:pt x="4540332" y="0"/>
                    <a:pt x="4545456" y="2122"/>
                    <a:pt x="4549233" y="5900"/>
                  </a:cubicBezTo>
                  <a:cubicBezTo>
                    <a:pt x="4553011" y="9678"/>
                    <a:pt x="4555133" y="14801"/>
                    <a:pt x="4555133" y="20143"/>
                  </a:cubicBezTo>
                  <a:lnTo>
                    <a:pt x="4555133" y="2427730"/>
                  </a:lnTo>
                  <a:cubicBezTo>
                    <a:pt x="4555133" y="2438856"/>
                    <a:pt x="4546115" y="2447874"/>
                    <a:pt x="4534990" y="2447874"/>
                  </a:cubicBezTo>
                  <a:lnTo>
                    <a:pt x="20143" y="2447874"/>
                  </a:lnTo>
                  <a:cubicBezTo>
                    <a:pt x="9019" y="2447874"/>
                    <a:pt x="0" y="2438856"/>
                    <a:pt x="0" y="2427730"/>
                  </a:cubicBezTo>
                  <a:lnTo>
                    <a:pt x="0" y="20143"/>
                  </a:lnTo>
                  <a:cubicBezTo>
                    <a:pt x="0" y="9019"/>
                    <a:pt x="9019" y="0"/>
                    <a:pt x="20143" y="0"/>
                  </a:cubicBezTo>
                  <a:close/>
                </a:path>
              </a:pathLst>
            </a:custGeom>
            <a:solidFill>
              <a:srgbClr val="1F3A6A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55133" cy="2485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03662" y="1357579"/>
            <a:ext cx="15880676" cy="4776197"/>
            <a:chOff x="0" y="0"/>
            <a:chExt cx="21174235" cy="636826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21174235" cy="2088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2759"/>
                </a:lnSpc>
              </a:pPr>
              <a:r>
                <a:rPr lang="en-US" sz="9814" spc="-294">
                  <a:solidFill>
                    <a:srgbClr val="E1E9F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The Problem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686082"/>
              <a:ext cx="21174235" cy="695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80"/>
                </a:lnSpc>
                <a:spcBef>
                  <a:spcPct val="0"/>
                </a:spcBef>
              </a:pPr>
              <a:r>
                <a:rPr lang="en-US" b="true" sz="3067" spc="-46">
                  <a:solidFill>
                    <a:srgbClr val="A7C9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Losing Subscribers and Revenue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735889"/>
              <a:ext cx="20707869" cy="26323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63"/>
                </a:lnSpc>
              </a:pPr>
              <a:r>
                <a:rPr lang="en-US" sz="3831" spc="-57">
                  <a:solidFill>
                    <a:srgbClr val="E1E9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We are experiencing a significant loss of subscribers, with fraud and billing faults quietly leaking revenue. Timely detection and proactive measures are essential to mitigate these issues.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1E9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96364" y="496364"/>
            <a:ext cx="17295272" cy="9294272"/>
            <a:chOff x="0" y="0"/>
            <a:chExt cx="4555133" cy="2447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55133" cy="2447874"/>
            </a:xfrm>
            <a:custGeom>
              <a:avLst/>
              <a:gdLst/>
              <a:ahLst/>
              <a:cxnLst/>
              <a:rect r="r" b="b" t="t" l="l"/>
              <a:pathLst>
                <a:path h="2447874" w="4555133">
                  <a:moveTo>
                    <a:pt x="20143" y="0"/>
                  </a:moveTo>
                  <a:lnTo>
                    <a:pt x="4534990" y="0"/>
                  </a:lnTo>
                  <a:cubicBezTo>
                    <a:pt x="4540332" y="0"/>
                    <a:pt x="4545456" y="2122"/>
                    <a:pt x="4549233" y="5900"/>
                  </a:cubicBezTo>
                  <a:cubicBezTo>
                    <a:pt x="4553011" y="9678"/>
                    <a:pt x="4555133" y="14801"/>
                    <a:pt x="4555133" y="20143"/>
                  </a:cubicBezTo>
                  <a:lnTo>
                    <a:pt x="4555133" y="2427730"/>
                  </a:lnTo>
                  <a:cubicBezTo>
                    <a:pt x="4555133" y="2438856"/>
                    <a:pt x="4546115" y="2447874"/>
                    <a:pt x="4534990" y="2447874"/>
                  </a:cubicBezTo>
                  <a:lnTo>
                    <a:pt x="20143" y="2447874"/>
                  </a:lnTo>
                  <a:cubicBezTo>
                    <a:pt x="9019" y="2447874"/>
                    <a:pt x="0" y="2438856"/>
                    <a:pt x="0" y="2427730"/>
                  </a:cubicBezTo>
                  <a:lnTo>
                    <a:pt x="0" y="20143"/>
                  </a:lnTo>
                  <a:cubicBezTo>
                    <a:pt x="0" y="9019"/>
                    <a:pt x="9019" y="0"/>
                    <a:pt x="20143" y="0"/>
                  </a:cubicBezTo>
                  <a:close/>
                </a:path>
              </a:pathLst>
            </a:custGeom>
            <a:solidFill>
              <a:srgbClr val="1F3A6A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55133" cy="2485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84624" y="1352550"/>
            <a:ext cx="15718753" cy="2440831"/>
            <a:chOff x="0" y="0"/>
            <a:chExt cx="20958337" cy="325444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20958337" cy="2013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2338"/>
                </a:lnSpc>
              </a:pPr>
              <a:r>
                <a:rPr lang="en-US" sz="9491" spc="-284">
                  <a:solidFill>
                    <a:srgbClr val="E1E9F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Four Subscriber Segments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606741"/>
              <a:ext cx="20958337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59"/>
                </a:lnSpc>
                <a:spcBef>
                  <a:spcPct val="0"/>
                </a:spcBef>
              </a:pPr>
              <a:r>
                <a:rPr lang="en-US" b="true" sz="2965" spc="-44">
                  <a:solidFill>
                    <a:srgbClr val="A7C9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Our Customer Profiles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0007" y="4724166"/>
            <a:ext cx="5647192" cy="3341689"/>
            <a:chOff x="0" y="0"/>
            <a:chExt cx="7529589" cy="445558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7529589" cy="699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2"/>
                </a:lnSpc>
                <a:spcBef>
                  <a:spcPct val="0"/>
                </a:spcBef>
              </a:pPr>
              <a:r>
                <a:rPr lang="en-US" b="true" sz="3276" spc="-49">
                  <a:solidFill>
                    <a:srgbClr val="A7C9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Steady and Balanced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407700"/>
              <a:ext cx="7529589" cy="3047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69"/>
                </a:lnSpc>
              </a:pPr>
              <a:r>
                <a:rPr lang="en-US" sz="2621" spc="-39" strike="noStrike" u="none">
                  <a:solidFill>
                    <a:srgbClr val="E1E9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This segment features customers with moderate spending habits and long tenures, showcasing balanced usage patterns that indicate loyalty and stability in their subscription behavior.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90574" y="4724166"/>
            <a:ext cx="5177022" cy="3746475"/>
            <a:chOff x="0" y="0"/>
            <a:chExt cx="6902696" cy="49953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6902696" cy="688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73"/>
                </a:lnSpc>
                <a:spcBef>
                  <a:spcPct val="0"/>
                </a:spcBef>
              </a:pPr>
              <a:r>
                <a:rPr lang="en-US" b="true" sz="3227" spc="-48">
                  <a:solidFill>
                    <a:srgbClr val="A7C9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Premium Loyal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95219"/>
              <a:ext cx="6902696" cy="3600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14"/>
                </a:lnSpc>
              </a:pPr>
              <a:r>
                <a:rPr lang="en-US" sz="2582" spc="-38" strike="noStrike" u="none">
                  <a:solidFill>
                    <a:srgbClr val="E1E9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Representing our highest spenders, this group enjoys the longest tenure with the least complaints, making them prime candidates for loyalty programs to reinforce their commitment.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02087" y="4724166"/>
            <a:ext cx="5177022" cy="3746475"/>
            <a:chOff x="0" y="0"/>
            <a:chExt cx="6902696" cy="49953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6902696" cy="688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73"/>
                </a:lnSpc>
                <a:spcBef>
                  <a:spcPct val="0"/>
                </a:spcBef>
              </a:pPr>
              <a:r>
                <a:rPr lang="en-US" b="true" sz="3227" spc="-48">
                  <a:solidFill>
                    <a:srgbClr val="A7C9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Budget and New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395219"/>
              <a:ext cx="6902696" cy="3600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14"/>
                </a:lnSpc>
              </a:pPr>
              <a:r>
                <a:rPr lang="en-US" sz="2582" spc="-38" strike="noStrike" u="none">
                  <a:solidFill>
                    <a:srgbClr val="E1E9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Characterized by the lowest spending and shortest tenure, this segment faces the highest churn rates, requiring effective low-cost engagement strategies to enhance retention and loyalty.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292711" y="8019396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6364" y="496364"/>
            <a:ext cx="17295272" cy="9294272"/>
            <a:chOff x="0" y="0"/>
            <a:chExt cx="4555133" cy="24478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5133" cy="2447874"/>
            </a:xfrm>
            <a:custGeom>
              <a:avLst/>
              <a:gdLst/>
              <a:ahLst/>
              <a:cxnLst/>
              <a:rect r="r" b="b" t="t" l="l"/>
              <a:pathLst>
                <a:path h="2447874" w="4555133">
                  <a:moveTo>
                    <a:pt x="20143" y="0"/>
                  </a:moveTo>
                  <a:lnTo>
                    <a:pt x="4534990" y="0"/>
                  </a:lnTo>
                  <a:cubicBezTo>
                    <a:pt x="4540332" y="0"/>
                    <a:pt x="4545456" y="2122"/>
                    <a:pt x="4549233" y="5900"/>
                  </a:cubicBezTo>
                  <a:cubicBezTo>
                    <a:pt x="4553011" y="9678"/>
                    <a:pt x="4555133" y="14801"/>
                    <a:pt x="4555133" y="20143"/>
                  </a:cubicBezTo>
                  <a:lnTo>
                    <a:pt x="4555133" y="2427730"/>
                  </a:lnTo>
                  <a:cubicBezTo>
                    <a:pt x="4555133" y="2438856"/>
                    <a:pt x="4546115" y="2447874"/>
                    <a:pt x="4534990" y="2447874"/>
                  </a:cubicBezTo>
                  <a:lnTo>
                    <a:pt x="20143" y="2447874"/>
                  </a:lnTo>
                  <a:cubicBezTo>
                    <a:pt x="9019" y="2447874"/>
                    <a:pt x="0" y="2438856"/>
                    <a:pt x="0" y="2427730"/>
                  </a:cubicBezTo>
                  <a:lnTo>
                    <a:pt x="0" y="20143"/>
                  </a:lnTo>
                  <a:cubicBezTo>
                    <a:pt x="0" y="9019"/>
                    <a:pt x="9019" y="0"/>
                    <a:pt x="20143" y="0"/>
                  </a:cubicBezTo>
                  <a:close/>
                </a:path>
              </a:pathLst>
            </a:custGeom>
            <a:solidFill>
              <a:srgbClr val="1F3A6A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55133" cy="2485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7395" y="1351385"/>
            <a:ext cx="15373209" cy="2443900"/>
            <a:chOff x="0" y="0"/>
            <a:chExt cx="20497612" cy="32585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0"/>
              <a:ext cx="20497612" cy="2017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2351"/>
                </a:lnSpc>
              </a:pPr>
              <a:r>
                <a:rPr lang="en-US" sz="9501" spc="-285">
                  <a:solidFill>
                    <a:srgbClr val="E1E9F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Subscriber Segment Analysis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610833"/>
              <a:ext cx="20497612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62"/>
                </a:lnSpc>
                <a:spcBef>
                  <a:spcPct val="0"/>
                </a:spcBef>
              </a:pPr>
              <a:r>
                <a:rPr lang="en-US" b="true" sz="2969" spc="-44">
                  <a:solidFill>
                    <a:srgbClr val="A7C9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the Data Heavy Young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508489"/>
            <a:ext cx="7735550" cy="3031038"/>
            <a:chOff x="0" y="0"/>
            <a:chExt cx="10314067" cy="404138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10314067" cy="717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33"/>
                </a:lnSpc>
                <a:spcBef>
                  <a:spcPct val="0"/>
                </a:spcBef>
              </a:pPr>
              <a:r>
                <a:rPr lang="en-US" b="true" sz="3361" spc="-50">
                  <a:solidFill>
                    <a:srgbClr val="A7C9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High Data Usage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445562"/>
              <a:ext cx="10314067" cy="2595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64"/>
                </a:lnSpc>
              </a:pPr>
              <a:r>
                <a:rPr lang="en-US" sz="2689" spc="-40" strike="noStrike" u="none">
                  <a:solidFill>
                    <a:srgbClr val="E1E9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This segment exhibits </a:t>
              </a:r>
              <a:r>
                <a:rPr lang="en-US" b="true" sz="2689" spc="-40" strike="noStrike" u="none">
                  <a:solidFill>
                    <a:srgbClr val="E1E9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significant data consumption</a:t>
              </a:r>
              <a:r>
                <a:rPr lang="en-US" sz="2689" spc="-40" strike="noStrike" u="none">
                  <a:solidFill>
                    <a:srgbClr val="E1E9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indicating a high engagement level. However, their short tenure poses a risk, as they may leave quickly if not retained effectively.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39527" y="5508489"/>
            <a:ext cx="7419773" cy="3031038"/>
            <a:chOff x="0" y="0"/>
            <a:chExt cx="9893031" cy="404138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9893031" cy="726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85"/>
                </a:lnSpc>
                <a:spcBef>
                  <a:spcPct val="0"/>
                </a:spcBef>
              </a:pPr>
              <a:r>
                <a:rPr lang="en-US" b="true" sz="3404" spc="-51">
                  <a:solidFill>
                    <a:srgbClr val="A7C9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Proactive Retention Needed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464855"/>
              <a:ext cx="9893031" cy="25765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13"/>
                </a:lnSpc>
              </a:pPr>
              <a:r>
                <a:rPr lang="en-US" sz="2723" spc="-40" strike="noStrike" u="none">
                  <a:solidFill>
                    <a:srgbClr val="E1E9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Implementing </a:t>
              </a:r>
              <a:r>
                <a:rPr lang="en-US" b="true" sz="2723" spc="-40" strike="noStrike" u="none">
                  <a:solidFill>
                    <a:srgbClr val="E1E9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targeted retention strategies</a:t>
              </a:r>
              <a:r>
                <a:rPr lang="en-US" sz="2723" spc="-40" strike="noStrike" u="none">
                  <a:solidFill>
                    <a:srgbClr val="E1E9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is essential for this group. Initiatives must focus on maintaining their interest and ensuring they see value in remaining subscribers.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3117037">
            <a:off x="15848658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1E9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96364" y="496364"/>
            <a:ext cx="17295272" cy="9294272"/>
            <a:chOff x="0" y="0"/>
            <a:chExt cx="4555133" cy="2447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55133" cy="2447874"/>
            </a:xfrm>
            <a:custGeom>
              <a:avLst/>
              <a:gdLst/>
              <a:ahLst/>
              <a:cxnLst/>
              <a:rect r="r" b="b" t="t" l="l"/>
              <a:pathLst>
                <a:path h="2447874" w="4555133">
                  <a:moveTo>
                    <a:pt x="20143" y="0"/>
                  </a:moveTo>
                  <a:lnTo>
                    <a:pt x="4534990" y="0"/>
                  </a:lnTo>
                  <a:cubicBezTo>
                    <a:pt x="4540332" y="0"/>
                    <a:pt x="4545456" y="2122"/>
                    <a:pt x="4549233" y="5900"/>
                  </a:cubicBezTo>
                  <a:cubicBezTo>
                    <a:pt x="4553011" y="9678"/>
                    <a:pt x="4555133" y="14801"/>
                    <a:pt x="4555133" y="20143"/>
                  </a:cubicBezTo>
                  <a:lnTo>
                    <a:pt x="4555133" y="2427730"/>
                  </a:lnTo>
                  <a:cubicBezTo>
                    <a:pt x="4555133" y="2438856"/>
                    <a:pt x="4546115" y="2447874"/>
                    <a:pt x="4534990" y="2447874"/>
                  </a:cubicBezTo>
                  <a:lnTo>
                    <a:pt x="20143" y="2447874"/>
                  </a:lnTo>
                  <a:cubicBezTo>
                    <a:pt x="9019" y="2447874"/>
                    <a:pt x="0" y="2438856"/>
                    <a:pt x="0" y="2427730"/>
                  </a:cubicBezTo>
                  <a:lnTo>
                    <a:pt x="0" y="20143"/>
                  </a:lnTo>
                  <a:cubicBezTo>
                    <a:pt x="0" y="9019"/>
                    <a:pt x="9019" y="0"/>
                    <a:pt x="20143" y="0"/>
                  </a:cubicBezTo>
                  <a:close/>
                </a:path>
              </a:pathLst>
            </a:custGeom>
            <a:solidFill>
              <a:srgbClr val="1F3A6A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55133" cy="2485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349300"/>
            <a:ext cx="16230600" cy="4923337"/>
            <a:chOff x="0" y="0"/>
            <a:chExt cx="21640800" cy="656444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14300"/>
              <a:ext cx="21640800" cy="2141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3040"/>
                </a:lnSpc>
              </a:pPr>
              <a:r>
                <a:rPr lang="en-US" sz="10030" spc="-300">
                  <a:solidFill>
                    <a:srgbClr val="E1E9F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Most Worth Worrying About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754583"/>
              <a:ext cx="21640800" cy="700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61"/>
                </a:lnSpc>
                <a:spcBef>
                  <a:spcPct val="0"/>
                </a:spcBef>
              </a:pPr>
              <a:r>
                <a:rPr lang="en-US" b="true" sz="3134" spc="-47">
                  <a:solidFill>
                    <a:srgbClr val="A7C9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 Heavy Young segment puts the most revenue at risk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828991"/>
              <a:ext cx="20981116" cy="2735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34"/>
                </a:lnSpc>
              </a:pPr>
              <a:r>
                <a:rPr lang="en-US" sz="3881" spc="-58">
                  <a:solidFill>
                    <a:srgbClr val="E1E9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</a:t>
              </a:r>
              <a:r>
                <a:rPr lang="en-US" b="true" sz="3881" spc="-58">
                  <a:solidFill>
                    <a:srgbClr val="E1E9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 Heavy Young segment</a:t>
              </a:r>
              <a:r>
                <a:rPr lang="en-US" sz="3881" spc="-58">
                  <a:solidFill>
                    <a:srgbClr val="E1E9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exhibits the highest churn rate and substantial revenue per user, presenting a critical area for proactive retention strategies to mitigate revenue loss.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5976447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1E9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96364" y="496364"/>
            <a:ext cx="17295272" cy="9294272"/>
            <a:chOff x="0" y="0"/>
            <a:chExt cx="4555133" cy="2447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55133" cy="2447874"/>
            </a:xfrm>
            <a:custGeom>
              <a:avLst/>
              <a:gdLst/>
              <a:ahLst/>
              <a:cxnLst/>
              <a:rect r="r" b="b" t="t" l="l"/>
              <a:pathLst>
                <a:path h="2447874" w="4555133">
                  <a:moveTo>
                    <a:pt x="20143" y="0"/>
                  </a:moveTo>
                  <a:lnTo>
                    <a:pt x="4534990" y="0"/>
                  </a:lnTo>
                  <a:cubicBezTo>
                    <a:pt x="4540332" y="0"/>
                    <a:pt x="4545456" y="2122"/>
                    <a:pt x="4549233" y="5900"/>
                  </a:cubicBezTo>
                  <a:cubicBezTo>
                    <a:pt x="4553011" y="9678"/>
                    <a:pt x="4555133" y="14801"/>
                    <a:pt x="4555133" y="20143"/>
                  </a:cubicBezTo>
                  <a:lnTo>
                    <a:pt x="4555133" y="2427730"/>
                  </a:lnTo>
                  <a:cubicBezTo>
                    <a:pt x="4555133" y="2438856"/>
                    <a:pt x="4546115" y="2447874"/>
                    <a:pt x="4534990" y="2447874"/>
                  </a:cubicBezTo>
                  <a:lnTo>
                    <a:pt x="20143" y="2447874"/>
                  </a:lnTo>
                  <a:cubicBezTo>
                    <a:pt x="9019" y="2447874"/>
                    <a:pt x="0" y="2438856"/>
                    <a:pt x="0" y="2427730"/>
                  </a:cubicBezTo>
                  <a:lnTo>
                    <a:pt x="0" y="20143"/>
                  </a:lnTo>
                  <a:cubicBezTo>
                    <a:pt x="0" y="9019"/>
                    <a:pt x="9019" y="0"/>
                    <a:pt x="20143" y="0"/>
                  </a:cubicBezTo>
                  <a:close/>
                </a:path>
              </a:pathLst>
            </a:custGeom>
            <a:solidFill>
              <a:srgbClr val="1F3A6A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55133" cy="2485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352550"/>
            <a:ext cx="16230600" cy="2533620"/>
            <a:chOff x="0" y="0"/>
            <a:chExt cx="21640800" cy="337816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21640800" cy="2086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2747"/>
                </a:lnSpc>
              </a:pPr>
              <a:r>
                <a:rPr lang="en-US" sz="9805" spc="-294">
                  <a:solidFill>
                    <a:srgbClr val="E1E9F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Fraud Detection Patterns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683690"/>
              <a:ext cx="21640800" cy="694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77"/>
                </a:lnSpc>
                <a:spcBef>
                  <a:spcPct val="0"/>
                </a:spcBef>
              </a:pPr>
              <a:r>
                <a:rPr lang="en-US" b="true" sz="3064" spc="-45">
                  <a:solidFill>
                    <a:srgbClr val="A7C9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Identifying revenue leaks and risks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01164" y="5143500"/>
            <a:ext cx="5360741" cy="3172183"/>
            <a:chOff x="0" y="0"/>
            <a:chExt cx="7147654" cy="422957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7147654" cy="663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32"/>
                </a:lnSpc>
                <a:spcBef>
                  <a:spcPct val="0"/>
                </a:spcBef>
              </a:pPr>
              <a:r>
                <a:rPr lang="en-US" b="true" sz="3110" spc="-46">
                  <a:solidFill>
                    <a:srgbClr val="A7C9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Bypass Fraud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52446"/>
              <a:ext cx="7147654" cy="2877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83"/>
                </a:lnSpc>
              </a:pPr>
              <a:r>
                <a:rPr lang="en-US" sz="2488" spc="-37" strike="noStrike" u="none">
                  <a:solidFill>
                    <a:srgbClr val="E1E9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Bypass fraud occurs when usage shows enormous international minutes with minimal data consumption, resulting in low bills that obscure potential revenue losses.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34996" y="5143500"/>
            <a:ext cx="4989375" cy="3172183"/>
            <a:chOff x="0" y="0"/>
            <a:chExt cx="6652499" cy="422957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6652499" cy="663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32"/>
                </a:lnSpc>
                <a:spcBef>
                  <a:spcPct val="0"/>
                </a:spcBef>
              </a:pPr>
              <a:r>
                <a:rPr lang="en-US" b="true" sz="3110" spc="-46">
                  <a:solidFill>
                    <a:srgbClr val="A7C9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Subscription Fraud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52446"/>
              <a:ext cx="6652499" cy="2877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83"/>
                </a:lnSpc>
              </a:pPr>
              <a:r>
                <a:rPr lang="en-US" sz="2488" spc="-37" strike="noStrike" u="none">
                  <a:solidFill>
                    <a:srgbClr val="E1E9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Subscription fraud is characterized by increasing usage followed by a sudden drop to zero, indicating failed payments and potential fraudulent activity affecting revenue.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497461" y="5143500"/>
            <a:ext cx="4989375" cy="3172183"/>
            <a:chOff x="0" y="0"/>
            <a:chExt cx="6652499" cy="4229578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6652499" cy="663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32"/>
                </a:lnSpc>
                <a:spcBef>
                  <a:spcPct val="0"/>
                </a:spcBef>
              </a:pPr>
              <a:r>
                <a:rPr lang="en-US" b="true" sz="3110" spc="-46">
                  <a:solidFill>
                    <a:srgbClr val="A7C9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Revenue Leakage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352446"/>
              <a:ext cx="6652499" cy="2877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83"/>
                </a:lnSpc>
              </a:pPr>
              <a:r>
                <a:rPr lang="en-US" sz="2488" spc="-37" strike="noStrike" u="none">
                  <a:solidFill>
                    <a:srgbClr val="E1E9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Revenue leakage manifests as actual usage billed at zero, revealing billing faults rather than fraud, which can significantly impact overall revenue streams.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1E9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96364" y="496364"/>
            <a:ext cx="17295272" cy="9294272"/>
            <a:chOff x="0" y="0"/>
            <a:chExt cx="4555133" cy="2447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55133" cy="2447874"/>
            </a:xfrm>
            <a:custGeom>
              <a:avLst/>
              <a:gdLst/>
              <a:ahLst/>
              <a:cxnLst/>
              <a:rect r="r" b="b" t="t" l="l"/>
              <a:pathLst>
                <a:path h="2447874" w="4555133">
                  <a:moveTo>
                    <a:pt x="20143" y="0"/>
                  </a:moveTo>
                  <a:lnTo>
                    <a:pt x="4534990" y="0"/>
                  </a:lnTo>
                  <a:cubicBezTo>
                    <a:pt x="4540332" y="0"/>
                    <a:pt x="4545456" y="2122"/>
                    <a:pt x="4549233" y="5900"/>
                  </a:cubicBezTo>
                  <a:cubicBezTo>
                    <a:pt x="4553011" y="9678"/>
                    <a:pt x="4555133" y="14801"/>
                    <a:pt x="4555133" y="20143"/>
                  </a:cubicBezTo>
                  <a:lnTo>
                    <a:pt x="4555133" y="2427730"/>
                  </a:lnTo>
                  <a:cubicBezTo>
                    <a:pt x="4555133" y="2438856"/>
                    <a:pt x="4546115" y="2447874"/>
                    <a:pt x="4534990" y="2447874"/>
                  </a:cubicBezTo>
                  <a:lnTo>
                    <a:pt x="20143" y="2447874"/>
                  </a:lnTo>
                  <a:cubicBezTo>
                    <a:pt x="9019" y="2447874"/>
                    <a:pt x="0" y="2438856"/>
                    <a:pt x="0" y="2427730"/>
                  </a:cubicBezTo>
                  <a:lnTo>
                    <a:pt x="0" y="20143"/>
                  </a:lnTo>
                  <a:cubicBezTo>
                    <a:pt x="0" y="9019"/>
                    <a:pt x="9019" y="0"/>
                    <a:pt x="20143" y="0"/>
                  </a:cubicBezTo>
                  <a:close/>
                </a:path>
              </a:pathLst>
            </a:custGeom>
            <a:solidFill>
              <a:srgbClr val="1F3A6A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55133" cy="2485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36349" y="1641666"/>
            <a:ext cx="16015301" cy="4826687"/>
            <a:chOff x="0" y="0"/>
            <a:chExt cx="21353735" cy="643558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20956185" cy="20213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2348"/>
                </a:lnSpc>
              </a:pPr>
              <a:r>
                <a:rPr lang="en-US" sz="9498" spc="-284">
                  <a:solidFill>
                    <a:srgbClr val="E1E9F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Recommendations and Next Steps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630474"/>
              <a:ext cx="20956185" cy="6784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2"/>
                </a:lnSpc>
                <a:spcBef>
                  <a:spcPct val="0"/>
                </a:spcBef>
              </a:pPr>
              <a:r>
                <a:rPr lang="en-US" b="true" sz="3035" spc="-45">
                  <a:solidFill>
                    <a:srgbClr val="A7C9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Target at-risk segment and run fraud alert routinely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659259"/>
              <a:ext cx="21353735" cy="2776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31"/>
                </a:lnSpc>
              </a:pPr>
              <a:r>
                <a:rPr lang="en-US" sz="3950" spc="-59">
                  <a:solidFill>
                    <a:srgbClr val="E1E9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To </a:t>
              </a:r>
              <a:r>
                <a:rPr lang="en-US" b="true" sz="3950" spc="-59">
                  <a:solidFill>
                    <a:srgbClr val="E1E9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protect revenue</a:t>
              </a:r>
              <a:r>
                <a:rPr lang="en-US" sz="3950" spc="-59">
                  <a:solidFill>
                    <a:srgbClr val="E1E9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we will focus on the Data Heavy Young segment while implementing proactive retention strategies and conducting monthly fraud alerts to identify emerging issues effectively.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E1E9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40160" y="336268"/>
            <a:ext cx="6177805" cy="9614464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5064" y="0"/>
                  </a:moveTo>
                  <a:lnTo>
                    <a:pt x="789661" y="0"/>
                  </a:lnTo>
                  <a:cubicBezTo>
                    <a:pt x="803503" y="0"/>
                    <a:pt x="814724" y="11221"/>
                    <a:pt x="814724" y="25064"/>
                  </a:cubicBezTo>
                  <a:lnTo>
                    <a:pt x="814724" y="1242885"/>
                  </a:lnTo>
                  <a:cubicBezTo>
                    <a:pt x="814724" y="1249532"/>
                    <a:pt x="812084" y="1255907"/>
                    <a:pt x="807383" y="1260608"/>
                  </a:cubicBezTo>
                  <a:cubicBezTo>
                    <a:pt x="802683" y="1265308"/>
                    <a:pt x="796308" y="1267949"/>
                    <a:pt x="789661" y="1267949"/>
                  </a:cubicBezTo>
                  <a:lnTo>
                    <a:pt x="25064" y="1267949"/>
                  </a:lnTo>
                  <a:cubicBezTo>
                    <a:pt x="18416" y="1267949"/>
                    <a:pt x="12041" y="1265308"/>
                    <a:pt x="7341" y="1260608"/>
                  </a:cubicBezTo>
                  <a:cubicBezTo>
                    <a:pt x="2641" y="1255907"/>
                    <a:pt x="0" y="1249532"/>
                    <a:pt x="0" y="1242885"/>
                  </a:cubicBezTo>
                  <a:lnTo>
                    <a:pt x="0" y="25064"/>
                  </a:lnTo>
                  <a:cubicBezTo>
                    <a:pt x="0" y="18416"/>
                    <a:pt x="2641" y="12041"/>
                    <a:pt x="7341" y="7341"/>
                  </a:cubicBezTo>
                  <a:cubicBezTo>
                    <a:pt x="12041" y="2641"/>
                    <a:pt x="18416" y="0"/>
                    <a:pt x="2506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34450" y="8601393"/>
            <a:ext cx="8324850" cy="127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b="true" sz="3800" spc="-57">
                <a:solidFill>
                  <a:srgbClr val="E1E9F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Moving forward</a:t>
            </a:r>
            <a:r>
              <a:rPr lang="en-US" sz="3800" spc="-57">
                <a:solidFill>
                  <a:srgbClr val="E1E9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with effective strategies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E1E9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Conclusion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Mini Capstone 2: Subscriber Segmentation</dc:description>
  <dc:identifier>DAHR2sJq-_w</dc:identifier>
  <dcterms:modified xsi:type="dcterms:W3CDTF">2011-08-01T06:04:30Z</dcterms:modified>
  <cp:revision>1</cp:revision>
  <dc:title>Presentation - Mini Capstone 2: Subscriber Segmentation</dc:title>
</cp:coreProperties>
</file>